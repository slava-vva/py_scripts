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8" r:id="rId3"/>
    <p:sldId id="275" r:id="rId4"/>
    <p:sldId id="270" r:id="rId5"/>
    <p:sldId id="271" r:id="rId6"/>
    <p:sldId id="272" r:id="rId7"/>
    <p:sldId id="261" r:id="rId8"/>
    <p:sldId id="268" r:id="rId9"/>
    <p:sldId id="274" r:id="rId10"/>
    <p:sldId id="262" r:id="rId11"/>
    <p:sldId id="267" r:id="rId12"/>
    <p:sldId id="266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B95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70" d="100"/>
          <a:sy n="70" d="100"/>
        </p:scale>
        <p:origin x="388" y="-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N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8E0C67-55B6-44D3-9F60-BB65A4D36730}" type="datetimeFigureOut">
              <a:rPr lang="en-NZ" smtClean="0"/>
              <a:t>12/08/2026</a:t>
            </a:fld>
            <a:endParaRPr lang="en-N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N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N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75F7C7E-7871-479E-B9A7-CA1282737EC9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42909751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Z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5F7C7E-7871-479E-B9A7-CA1282737EC9}" type="slidenum">
              <a:rPr lang="en-NZ" smtClean="0"/>
              <a:t>11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8832184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J3d6bx3i4l0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youtube.com/watch?v=1p5kI7SYz4Q" TargetMode="Externa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374298"/>
            <a:ext cx="8229600" cy="1706562"/>
          </a:xfrm>
        </p:spPr>
        <p:txBody>
          <a:bodyPr>
            <a:noAutofit/>
          </a:bodyPr>
          <a:lstStyle/>
          <a:p>
            <a:r>
              <a:rPr lang="en-NZ" sz="2400" b="1" dirty="0"/>
              <a:t>COMP</a:t>
            </a:r>
            <a:r>
              <a:rPr lang="ru-RU" sz="2400" b="1" dirty="0"/>
              <a:t>902</a:t>
            </a:r>
            <a:r>
              <a:rPr lang="en-NZ" sz="2400" b="1" dirty="0"/>
              <a:t>   </a:t>
            </a:r>
            <a:r>
              <a:rPr lang="en-US" sz="2400" b="1" dirty="0"/>
              <a:t>Advanced Information Technology </a:t>
            </a:r>
            <a:r>
              <a:rPr lang="en-US" sz="2400" b="1" dirty="0" err="1"/>
              <a:t>Specialised</a:t>
            </a:r>
            <a:r>
              <a:rPr lang="en-US" sz="2400" b="1" dirty="0"/>
              <a:t> Project</a:t>
            </a:r>
            <a:br>
              <a:rPr lang="en-NZ" sz="2400" dirty="0"/>
            </a:br>
            <a:r>
              <a:rPr lang="en-NZ" sz="2400" b="1" dirty="0"/>
              <a:t>Trimester </a:t>
            </a:r>
            <a:r>
              <a:rPr lang="ru-RU" sz="2400" b="1" dirty="0"/>
              <a:t>2</a:t>
            </a:r>
            <a:r>
              <a:rPr lang="en-NZ" sz="2400" b="1" dirty="0"/>
              <a:t>, 2026</a:t>
            </a:r>
            <a:br>
              <a:rPr lang="en-NZ" sz="2400" dirty="0"/>
            </a:br>
            <a:br>
              <a:rPr lang="en-NZ" sz="2400" dirty="0"/>
            </a:br>
            <a:r>
              <a:rPr lang="en-US" sz="2400" b="1" dirty="0"/>
              <a:t>Final Report</a:t>
            </a:r>
            <a:endParaRPr lang="en-NZ" sz="2400" dirty="0"/>
          </a:p>
        </p:txBody>
      </p:sp>
      <p:pic>
        <p:nvPicPr>
          <p:cNvPr id="4" name="Picture 3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50EDC7BC-BD8A-BA8F-E18A-CDA8021908E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82779" y="385763"/>
            <a:ext cx="2817026" cy="1119188"/>
          </a:xfrm>
          <a:prstGeom prst="rect">
            <a:avLst/>
          </a:prstGeo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3C709156-ED87-050B-FF7D-08F7A2FA0849}"/>
              </a:ext>
            </a:extLst>
          </p:cNvPr>
          <p:cNvSpPr txBox="1">
            <a:spLocks/>
          </p:cNvSpPr>
          <p:nvPr/>
        </p:nvSpPr>
        <p:spPr>
          <a:xfrm>
            <a:off x="1133474" y="5334000"/>
            <a:ext cx="7553325" cy="11255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</a:pPr>
            <a:r>
              <a:rPr lang="en-US" sz="1800" dirty="0"/>
              <a:t>Prepared for: Dr. Saranya Selvarangan</a:t>
            </a:r>
          </a:p>
          <a:p>
            <a:pPr marL="0" indent="0">
              <a:buFont typeface="Arial"/>
              <a:buNone/>
            </a:pPr>
            <a:r>
              <a:rPr lang="en-US" sz="1800" dirty="0"/>
              <a:t>Prepared by: Viacheslav Vorozhbit – 20230119</a:t>
            </a:r>
          </a:p>
          <a:p>
            <a:pPr marL="0" indent="0" algn="r">
              <a:buFont typeface="Arial"/>
              <a:buNone/>
            </a:pPr>
            <a:r>
              <a:rPr lang="en-NZ" sz="1800" dirty="0"/>
              <a:t>11</a:t>
            </a:r>
            <a:r>
              <a:rPr lang="en-US" sz="1800" dirty="0"/>
              <a:t>/08/2026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3" name="Rectangle 32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-1"/>
            <a:ext cx="9143997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" y="0"/>
            <a:ext cx="6086479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86474" y="-1"/>
            <a:ext cx="3057523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4512" y="-1"/>
            <a:ext cx="8799485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9" y="294538"/>
            <a:ext cx="7421963" cy="1033669"/>
          </a:xfrm>
        </p:spPr>
        <p:txBody>
          <a:bodyPr>
            <a:normAutofit/>
          </a:bodyPr>
          <a:lstStyle/>
          <a:p>
            <a:r>
              <a:rPr lang="en-NZ" sz="3500" dirty="0">
                <a:solidFill>
                  <a:schemeClr val="bg1"/>
                </a:solidFill>
              </a:rPr>
              <a:t>Research Topic and Problem</a:t>
            </a:r>
            <a:endParaRPr lang="en-NZ" sz="3500" dirty="0">
              <a:solidFill>
                <a:srgbClr val="FFFFFF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719D7F9-5251-7129-58D9-1EF05AC51F3D}"/>
              </a:ext>
            </a:extLst>
          </p:cNvPr>
          <p:cNvSpPr txBox="1"/>
          <p:nvPr/>
        </p:nvSpPr>
        <p:spPr>
          <a:xfrm>
            <a:off x="596814" y="1608298"/>
            <a:ext cx="750314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Z" sz="2400" b="1" dirty="0"/>
              <a:t>AI-Assisted Construction Workplace Management System</a:t>
            </a:r>
            <a:endParaRPr lang="en-NZ" sz="2400" dirty="0"/>
          </a:p>
          <a:p>
            <a:endParaRPr lang="en-NZ" sz="24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8682901-D568-E285-1588-3C5050624871}"/>
              </a:ext>
            </a:extLst>
          </p:cNvPr>
          <p:cNvSpPr txBox="1"/>
          <p:nvPr/>
        </p:nvSpPr>
        <p:spPr>
          <a:xfrm>
            <a:off x="485561" y="2223448"/>
            <a:ext cx="633038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Why were small construction companies chosen?</a:t>
            </a:r>
            <a:endParaRPr lang="en-NZ" sz="2400" dirty="0"/>
          </a:p>
        </p:txBody>
      </p:sp>
      <p:pic>
        <p:nvPicPr>
          <p:cNvPr id="11" name="Picture 10" descr="The top 9 AI tools for UX design in 2026 and how to use it">
            <a:extLst>
              <a:ext uri="{FF2B5EF4-FFF2-40B4-BE49-F238E27FC236}">
                <a16:creationId xmlns:a16="http://schemas.microsoft.com/office/drawing/2014/main" id="{FF57D398-2100-B29E-2C9E-81D56865807F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14000"/>
          </a:blip>
          <a:srcRect l="25462" r="25284"/>
          <a:stretch>
            <a:fillRect/>
          </a:stretch>
        </p:blipFill>
        <p:spPr>
          <a:xfrm>
            <a:off x="5299385" y="3402834"/>
            <a:ext cx="3524250" cy="3577621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F868E505-C2BE-20D9-10AA-0D97F421AF7E}"/>
              </a:ext>
            </a:extLst>
          </p:cNvPr>
          <p:cNvSpPr txBox="1"/>
          <p:nvPr/>
        </p:nvSpPr>
        <p:spPr>
          <a:xfrm>
            <a:off x="485561" y="2782626"/>
            <a:ext cx="8017708" cy="23529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NZ" sz="2000" dirty="0"/>
              <a:t>Small businesses might only have one or two managers.</a:t>
            </a:r>
            <a:endParaRPr lang="ru-RU" sz="20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NZ" sz="2000" dirty="0"/>
              <a:t>Many administrative duties are carried out by managers themselves.</a:t>
            </a:r>
            <a:endParaRPr lang="ru-RU" sz="20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NZ" sz="2000" dirty="0"/>
              <a:t>Information processing, papers, attachments, and emails are repetitive.</a:t>
            </a:r>
            <a:endParaRPr lang="ru-RU" sz="20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NZ" sz="2000" dirty="0"/>
              <a:t>Big businesses can rely on specialised IT support and enterprise systems.</a:t>
            </a:r>
            <a:endParaRPr lang="ru-RU" sz="20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NZ" sz="2000" dirty="0"/>
              <a:t>Accessible and useful solutions are necessary for small businesses.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C1B6D89-3450-185F-49CB-15F6E63DB65E}"/>
              </a:ext>
            </a:extLst>
          </p:cNvPr>
          <p:cNvSpPr txBox="1"/>
          <p:nvPr/>
        </p:nvSpPr>
        <p:spPr>
          <a:xfrm>
            <a:off x="596814" y="5380488"/>
            <a:ext cx="738285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Z" sz="2000" u="sng" dirty="0">
                <a:solidFill>
                  <a:schemeClr val="tx2">
                    <a:lumMod val="75000"/>
                  </a:schemeClr>
                </a:solidFill>
              </a:rPr>
              <a:t>Main Idea: </a:t>
            </a:r>
          </a:p>
          <a:p>
            <a:r>
              <a:rPr lang="en-NZ" sz="2000" dirty="0">
                <a:solidFill>
                  <a:schemeClr val="tx2">
                    <a:lumMod val="75000"/>
                  </a:schemeClr>
                </a:solidFill>
              </a:rPr>
              <a:t>How can AI reduce routine workload without replacing the manager?</a:t>
            </a:r>
            <a:endParaRPr lang="en-NZ" sz="2000" b="1" dirty="0">
              <a:solidFill>
                <a:schemeClr val="tx2">
                  <a:lumMod val="75000"/>
                </a:schemeClr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80FB924-5EC4-170A-8DB8-EFBB6CC652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3" name="Rectangle 32">
            <a:extLst>
              <a:ext uri="{FF2B5EF4-FFF2-40B4-BE49-F238E27FC236}">
                <a16:creationId xmlns:a16="http://schemas.microsoft.com/office/drawing/2014/main" id="{CC52851D-54A8-B442-DAD3-1F7280C1B7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8B457E65-2A4B-C798-824E-0C2189E8AD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-1"/>
            <a:ext cx="9143997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676D6350-CB2B-8182-C21A-C71CEB7DD5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" y="0"/>
            <a:ext cx="6086479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9DFF015-8F1D-7758-691E-4D098BAA96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86474" y="-1"/>
            <a:ext cx="3057523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134BF08A-F0F6-7D56-FF50-3B71C74F1A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4512" y="-1"/>
            <a:ext cx="8799485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A6B8912-A00E-DAC7-6E3D-8CF8EEDC47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699" y="294538"/>
            <a:ext cx="7421963" cy="1033669"/>
          </a:xfrm>
        </p:spPr>
        <p:txBody>
          <a:bodyPr>
            <a:normAutofit/>
          </a:bodyPr>
          <a:lstStyle/>
          <a:p>
            <a:r>
              <a:rPr lang="en-US" sz="3500" dirty="0">
                <a:solidFill>
                  <a:srgbClr val="FFFFFF"/>
                </a:solidFill>
              </a:rPr>
              <a:t>The aim and objectives of the research</a:t>
            </a:r>
            <a:endParaRPr lang="en-NZ" sz="3500" dirty="0">
              <a:solidFill>
                <a:srgbClr val="FFFFFF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22AC478-65B8-6D61-9A3A-DD13FE93000A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881" t="10296" r="10812"/>
          <a:stretch>
            <a:fillRect/>
          </a:stretch>
        </p:blipFill>
        <p:spPr bwMode="auto">
          <a:xfrm>
            <a:off x="4986670" y="4184536"/>
            <a:ext cx="3735014" cy="2192957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2B371B8-FD1C-8D85-CBC4-7A239FAE1801}"/>
              </a:ext>
            </a:extLst>
          </p:cNvPr>
          <p:cNvSpPr txBox="1"/>
          <p:nvPr/>
        </p:nvSpPr>
        <p:spPr>
          <a:xfrm>
            <a:off x="571500" y="1921954"/>
            <a:ext cx="7206075" cy="335906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NZ" sz="2400" dirty="0"/>
              <a:t>Investigate the use of AI in construction management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NZ" sz="2400" dirty="0"/>
              <a:t>Determine appropriate, accessible technologies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NZ" sz="2400" dirty="0"/>
              <a:t>Look at automating workflows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NZ" sz="2400" dirty="0"/>
              <a:t>Test document processing using AI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NZ" sz="2400" dirty="0"/>
              <a:t>Investigate AI mini-assistants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NZ" sz="2400" dirty="0"/>
              <a:t>Consider the advantages and restrictions</a:t>
            </a:r>
          </a:p>
        </p:txBody>
      </p:sp>
    </p:spTree>
    <p:extLst>
      <p:ext uri="{BB962C8B-B14F-4D97-AF65-F5344CB8AC3E}">
        <p14:creationId xmlns:p14="http://schemas.microsoft.com/office/powerpoint/2010/main" val="13841299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2AD0CEB-A4F5-CC54-7147-325A15AE62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3" name="Rectangle 32">
            <a:extLst>
              <a:ext uri="{FF2B5EF4-FFF2-40B4-BE49-F238E27FC236}">
                <a16:creationId xmlns:a16="http://schemas.microsoft.com/office/drawing/2014/main" id="{8861001F-E839-7726-C4B7-B909A4C41D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615101E1-A5DF-803A-B671-6BC7C35713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-1"/>
            <a:ext cx="9143997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AD4720C3-BBA7-A4FB-4045-C32187BDA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" y="0"/>
            <a:ext cx="6086479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1D8C2EE8-9381-5800-3630-8A6DAD9EC8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86474" y="-1"/>
            <a:ext cx="3057523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308B3E79-8B54-5F89-724D-8F76DA3870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4512" y="-1"/>
            <a:ext cx="8799485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33F3902-C2B1-A173-4851-54F9823A71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699" y="294538"/>
            <a:ext cx="7421963" cy="1033669"/>
          </a:xfrm>
        </p:spPr>
        <p:txBody>
          <a:bodyPr>
            <a:normAutofit/>
          </a:bodyPr>
          <a:lstStyle/>
          <a:p>
            <a:r>
              <a:rPr lang="en-US" sz="3500" dirty="0">
                <a:solidFill>
                  <a:srgbClr val="FFFFFF"/>
                </a:solidFill>
              </a:rPr>
              <a:t>Literature Review</a:t>
            </a:r>
            <a:endParaRPr lang="en-NZ" sz="3500" dirty="0">
              <a:solidFill>
                <a:srgbClr val="FFFFFF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C121E12-3D69-4A04-740B-C1BCB5EEA6A4}"/>
              </a:ext>
            </a:extLst>
          </p:cNvPr>
          <p:cNvSpPr txBox="1"/>
          <p:nvPr/>
        </p:nvSpPr>
        <p:spPr>
          <a:xfrm>
            <a:off x="1694181" y="1910333"/>
            <a:ext cx="4392293" cy="22510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NZ" sz="2400" dirty="0"/>
              <a:t>AI as assistant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NZ" sz="2400" dirty="0"/>
              <a:t>AI in construction management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NZ" sz="2400" dirty="0"/>
              <a:t>Automating workflows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The potential of AI technology </a:t>
            </a:r>
            <a:endParaRPr lang="ru-RU" sz="2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9B5148C-870B-4EF8-8B79-6697064993F4}"/>
              </a:ext>
            </a:extLst>
          </p:cNvPr>
          <p:cNvSpPr txBox="1"/>
          <p:nvPr/>
        </p:nvSpPr>
        <p:spPr>
          <a:xfrm>
            <a:off x="1333500" y="4981575"/>
            <a:ext cx="686628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b="1" u="sng" dirty="0"/>
              <a:t>Outcome:</a:t>
            </a:r>
          </a:p>
          <a:p>
            <a:r>
              <a:rPr lang="en-US" b="1" dirty="0"/>
              <a:t>Limited practical focus on combining accessible AI with low-code automation for small construction enterprises</a:t>
            </a:r>
            <a:endParaRPr lang="en-NZ" b="1" dirty="0"/>
          </a:p>
        </p:txBody>
      </p:sp>
    </p:spTree>
    <p:extLst>
      <p:ext uri="{BB962C8B-B14F-4D97-AF65-F5344CB8AC3E}">
        <p14:creationId xmlns:p14="http://schemas.microsoft.com/office/powerpoint/2010/main" val="14031458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3299891-578E-6B98-42AB-65C1C73C11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3" name="Rectangle 32">
            <a:extLst>
              <a:ext uri="{FF2B5EF4-FFF2-40B4-BE49-F238E27FC236}">
                <a16:creationId xmlns:a16="http://schemas.microsoft.com/office/drawing/2014/main" id="{EB879983-5A39-A4EB-E09E-300DE7BFA5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C4AD972C-7C4D-3ED5-342A-ED7D897CEE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-1"/>
            <a:ext cx="9143997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DE967AD6-8AF9-7741-5F53-1BEEA3B074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" y="0"/>
            <a:ext cx="6086479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90B029F-EDB4-DE4D-A07C-8C1474C078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86474" y="-1"/>
            <a:ext cx="3057523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D88C6522-208D-9533-D024-A0E8183260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4512" y="-1"/>
            <a:ext cx="8799485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D865262-BBDD-9148-4A99-536B5B9F71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699" y="294538"/>
            <a:ext cx="7421963" cy="1033669"/>
          </a:xfrm>
        </p:spPr>
        <p:txBody>
          <a:bodyPr>
            <a:normAutofit/>
          </a:bodyPr>
          <a:lstStyle/>
          <a:p>
            <a:r>
              <a:rPr lang="en-US" sz="3500" dirty="0">
                <a:solidFill>
                  <a:srgbClr val="FFFFFF"/>
                </a:solidFill>
              </a:rPr>
              <a:t>Methodology</a:t>
            </a:r>
            <a:endParaRPr lang="en-NZ" sz="3500" dirty="0">
              <a:solidFill>
                <a:srgbClr val="FFFFFF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ACEE20F-6EFD-2536-4C5B-856C8014699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794" t="12350" r="5296" b="12101"/>
          <a:stretch>
            <a:fillRect/>
          </a:stretch>
        </p:blipFill>
        <p:spPr>
          <a:xfrm>
            <a:off x="2726016" y="3014707"/>
            <a:ext cx="5943003" cy="336585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9F7B7CC-1446-432C-FDDA-6A088C69F9F8}"/>
              </a:ext>
            </a:extLst>
          </p:cNvPr>
          <p:cNvSpPr txBox="1"/>
          <p:nvPr/>
        </p:nvSpPr>
        <p:spPr>
          <a:xfrm>
            <a:off x="532130" y="1746524"/>
            <a:ext cx="4859019" cy="28020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NZ" sz="2400" dirty="0"/>
              <a:t>→ </a:t>
            </a:r>
            <a:r>
              <a:rPr lang="en-NZ" sz="2400" b="1" dirty="0"/>
              <a:t>Technology Investigation</a:t>
            </a:r>
            <a:br>
              <a:rPr lang="en-NZ" sz="2400" dirty="0"/>
            </a:br>
            <a:r>
              <a:rPr lang="en-NZ" sz="2400" dirty="0"/>
              <a:t>→ </a:t>
            </a:r>
            <a:r>
              <a:rPr lang="en-NZ" sz="2400" b="1" dirty="0"/>
              <a:t>Workflow Design</a:t>
            </a:r>
            <a:br>
              <a:rPr lang="en-NZ" sz="2400" dirty="0"/>
            </a:br>
            <a:r>
              <a:rPr lang="en-NZ" sz="2400" dirty="0"/>
              <a:t>→ </a:t>
            </a:r>
            <a:r>
              <a:rPr lang="en-NZ" sz="2400" b="1" dirty="0"/>
              <a:t>Practical Testing</a:t>
            </a:r>
            <a:br>
              <a:rPr lang="en-NZ" sz="2400" dirty="0"/>
            </a:br>
            <a:r>
              <a:rPr lang="en-NZ" sz="2400" dirty="0"/>
              <a:t>→ </a:t>
            </a:r>
            <a:r>
              <a:rPr lang="en-NZ" sz="2400" b="1" dirty="0"/>
              <a:t>Evaluation</a:t>
            </a:r>
            <a:br>
              <a:rPr lang="en-NZ" sz="2400" dirty="0"/>
            </a:br>
            <a:r>
              <a:rPr lang="en-NZ" sz="2400" dirty="0"/>
              <a:t>→ </a:t>
            </a:r>
            <a:r>
              <a:rPr lang="en-NZ" sz="2400" b="1" dirty="0"/>
              <a:t>Findings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35734329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D3BDA36-5516-D8A2-ACD0-FD2FF1C723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3" name="Rectangle 32">
            <a:extLst>
              <a:ext uri="{FF2B5EF4-FFF2-40B4-BE49-F238E27FC236}">
                <a16:creationId xmlns:a16="http://schemas.microsoft.com/office/drawing/2014/main" id="{46F46A3A-1F52-015B-008F-D586377BB9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C6260AE4-6F95-0429-03D4-A9AA871CBA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-1"/>
            <a:ext cx="9143997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7048D422-6793-2CDD-22A9-3F79076885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" y="0"/>
            <a:ext cx="6086479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370EC68-01A4-C160-BFCC-94417C6CF5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86474" y="-1"/>
            <a:ext cx="3057523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27F9F955-C11B-B910-75FE-76CE6B274D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4512" y="-1"/>
            <a:ext cx="8799485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3D868CB-1B5C-400A-E95B-BA03E9AF54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699" y="294538"/>
            <a:ext cx="7421963" cy="1033669"/>
          </a:xfrm>
        </p:spPr>
        <p:txBody>
          <a:bodyPr>
            <a:normAutofit/>
          </a:bodyPr>
          <a:lstStyle/>
          <a:p>
            <a:r>
              <a:rPr lang="en-US" sz="3500" dirty="0">
                <a:solidFill>
                  <a:srgbClr val="FFFFFF"/>
                </a:solidFill>
              </a:rPr>
              <a:t>Technologies Investigated</a:t>
            </a:r>
            <a:endParaRPr lang="en-NZ" sz="3500" dirty="0">
              <a:solidFill>
                <a:srgbClr val="FFFFFF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FE3D6ED-B5CA-5793-6391-29B7274D3BD1}"/>
              </a:ext>
            </a:extLst>
          </p:cNvPr>
          <p:cNvSpPr txBox="1"/>
          <p:nvPr/>
        </p:nvSpPr>
        <p:spPr>
          <a:xfrm>
            <a:off x="762000" y="1891970"/>
            <a:ext cx="2762231" cy="44670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NZ" sz="2400" dirty="0"/>
              <a:t>MS Power Automate</a:t>
            </a:r>
          </a:p>
          <a:p>
            <a:pPr>
              <a:lnSpc>
                <a:spcPct val="150000"/>
              </a:lnSpc>
            </a:pPr>
            <a:r>
              <a:rPr lang="en-NZ" sz="2400" dirty="0"/>
              <a:t>AI ChatGPT</a:t>
            </a:r>
          </a:p>
          <a:p>
            <a:pPr>
              <a:lnSpc>
                <a:spcPct val="150000"/>
              </a:lnSpc>
            </a:pPr>
            <a:r>
              <a:rPr lang="en-NZ" sz="2400" dirty="0"/>
              <a:t>AI Copilot</a:t>
            </a:r>
          </a:p>
          <a:p>
            <a:pPr>
              <a:lnSpc>
                <a:spcPct val="150000"/>
              </a:lnSpc>
            </a:pPr>
            <a:r>
              <a:rPr lang="en-NZ" sz="2400" dirty="0"/>
              <a:t>AI Builder</a:t>
            </a:r>
          </a:p>
          <a:p>
            <a:pPr>
              <a:lnSpc>
                <a:spcPct val="150000"/>
              </a:lnSpc>
            </a:pPr>
            <a:r>
              <a:rPr lang="en-NZ" sz="2400" dirty="0"/>
              <a:t>AI Claude</a:t>
            </a:r>
          </a:p>
          <a:p>
            <a:pPr>
              <a:lnSpc>
                <a:spcPct val="150000"/>
              </a:lnSpc>
            </a:pPr>
            <a:r>
              <a:rPr lang="en-NZ" sz="2400" dirty="0"/>
              <a:t>AI Cursor</a:t>
            </a:r>
          </a:p>
          <a:p>
            <a:pPr>
              <a:lnSpc>
                <a:spcPct val="150000"/>
              </a:lnSpc>
            </a:pPr>
            <a:r>
              <a:rPr lang="en-NZ" sz="2400" dirty="0"/>
              <a:t>AI Gemini</a:t>
            </a:r>
          </a:p>
          <a:p>
            <a:pPr>
              <a:lnSpc>
                <a:spcPct val="150000"/>
              </a:lnSpc>
            </a:pPr>
            <a:r>
              <a:rPr lang="en-NZ" sz="2400" dirty="0"/>
              <a:t>AI Grok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499CBFF-AF3D-FE99-FD6C-262187099C4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02" t="13105" r="3468" b="14600"/>
          <a:stretch>
            <a:fillRect/>
          </a:stretch>
        </p:blipFill>
        <p:spPr bwMode="auto">
          <a:xfrm>
            <a:off x="2810173" y="2971800"/>
            <a:ext cx="5914728" cy="30575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0073158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n-NZ" sz="3500" dirty="0">
                <a:solidFill>
                  <a:srgbClr val="FFFFFF"/>
                </a:solidFill>
              </a:rPr>
              <a:t>Concept mini-assistants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5FA1471-543A-1C70-8910-8AB13F20F3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138" y="3653049"/>
            <a:ext cx="4756150" cy="27432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EE9BF05-8235-5BA5-18F3-A09C426C4D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" y="1924821"/>
            <a:ext cx="3916582" cy="126647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00B190B-06EB-FED5-DAB7-BB9F2F46A0C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85431" y="1935724"/>
            <a:ext cx="4768850" cy="273494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1B51131-30E9-FF57-A850-8DD8E2923C22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100" b="12726"/>
          <a:stretch>
            <a:fillRect/>
          </a:stretch>
        </p:blipFill>
        <p:spPr bwMode="auto">
          <a:xfrm>
            <a:off x="4777581" y="4543798"/>
            <a:ext cx="4064000" cy="21179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3EE7D2D-AC30-E8EC-E852-5FACE46139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C5473E1-9E55-04F6-74F9-9190EB7207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D3282C9-1850-F30E-5A32-94D857FE54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1F9E7B3-79DE-CD0A-719B-1B79AB929F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D9200BA-B835-2DEF-71C3-A7DCC4EEC2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B9C8D99-A29E-6728-3A8C-70DA017DE0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n-NZ" sz="3500" dirty="0">
                <a:solidFill>
                  <a:srgbClr val="FFFFFF"/>
                </a:solidFill>
              </a:rPr>
              <a:t>Claude </a:t>
            </a:r>
            <a:r>
              <a:rPr lang="en-NZ" sz="3500" dirty="0" err="1">
                <a:solidFill>
                  <a:srgbClr val="FFFFFF"/>
                </a:solidFill>
              </a:rPr>
              <a:t>Cowork</a:t>
            </a:r>
            <a:r>
              <a:rPr lang="en-NZ" sz="3500" dirty="0">
                <a:solidFill>
                  <a:srgbClr val="FFFFFF"/>
                </a:solidFill>
              </a:rPr>
              <a:t> and Notion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9BF732F-EA5D-9E39-9DA9-B238BC066F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275" y="1924820"/>
            <a:ext cx="6976420" cy="2072759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B0DADEB-239A-9A34-A89A-82FCEE85C4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4425" y="3916417"/>
            <a:ext cx="7296149" cy="2315279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8062657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D180F22-E2D6-3C82-3742-BE4DE89B75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3" name="Rectangle 32">
            <a:extLst>
              <a:ext uri="{FF2B5EF4-FFF2-40B4-BE49-F238E27FC236}">
                <a16:creationId xmlns:a16="http://schemas.microsoft.com/office/drawing/2014/main" id="{DED85A89-FB2F-3C34-AC65-461FD2DD65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B7748E05-8667-367B-A641-B38A675ABA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-1"/>
            <a:ext cx="9143997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A43B704C-D368-EE24-3BB6-EB527E1F55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" y="0"/>
            <a:ext cx="6086479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A60144E-0FC7-56B6-1BD4-F110AD4482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86474" y="-1"/>
            <a:ext cx="3057523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02432003-CF96-28A5-7638-084DC18B82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4512" y="-1"/>
            <a:ext cx="8799485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E969DC2-2A4C-A8B4-6BF1-4EB262B2F8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699" y="294538"/>
            <a:ext cx="7421963" cy="1033669"/>
          </a:xfrm>
        </p:spPr>
        <p:txBody>
          <a:bodyPr>
            <a:normAutofit/>
          </a:bodyPr>
          <a:lstStyle/>
          <a:p>
            <a:r>
              <a:rPr lang="en-US" sz="3500" dirty="0">
                <a:solidFill>
                  <a:srgbClr val="FFFFFF"/>
                </a:solidFill>
              </a:rPr>
              <a:t>Results &amp; Key Findings</a:t>
            </a:r>
            <a:endParaRPr lang="en-NZ" sz="3500" dirty="0">
              <a:solidFill>
                <a:srgbClr val="FFFFFF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754F390-8313-2F44-CEDC-C58FA9F30810}"/>
              </a:ext>
            </a:extLst>
          </p:cNvPr>
          <p:cNvSpPr txBox="1"/>
          <p:nvPr/>
        </p:nvSpPr>
        <p:spPr>
          <a:xfrm>
            <a:off x="712423" y="1950676"/>
            <a:ext cx="8054513" cy="33590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NZ" sz="2400" dirty="0"/>
              <a:t>Many AI technologies have potential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NZ" sz="2400" dirty="0"/>
              <a:t>Some require significant technical knowledge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NZ" sz="2400" dirty="0"/>
              <a:t>Power Automate provides an accessible low-code approach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NZ" sz="2400" dirty="0"/>
              <a:t>AI Builder adds intelligence to workflows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NZ" sz="2400" dirty="0"/>
              <a:t>Claude provides broader AI assistance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NZ" sz="2400" dirty="0"/>
              <a:t>Technologies work better in combination</a:t>
            </a:r>
            <a:endParaRPr lang="ru-RU" sz="2400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1F451999-0E87-B683-5CB7-B18D9C0BCF60}"/>
              </a:ext>
            </a:extLst>
          </p:cNvPr>
          <p:cNvGrpSpPr/>
          <p:nvPr/>
        </p:nvGrpSpPr>
        <p:grpSpPr>
          <a:xfrm>
            <a:off x="757745" y="5626405"/>
            <a:ext cx="7628511" cy="744280"/>
            <a:chOff x="712423" y="5486399"/>
            <a:chExt cx="7628511" cy="744280"/>
          </a:xfrm>
        </p:grpSpPr>
        <p:pic>
          <p:nvPicPr>
            <p:cNvPr id="5" name="Picture 4" descr="30+ Best AI Tools for Business Success in 2026">
              <a:extLst>
                <a:ext uri="{FF2B5EF4-FFF2-40B4-BE49-F238E27FC236}">
                  <a16:creationId xmlns:a16="http://schemas.microsoft.com/office/drawing/2014/main" id="{569F55D8-410B-BB60-0DAF-ABC2C12B018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4231" t="9386" r="3987" b="49452"/>
            <a:stretch>
              <a:fillRect/>
            </a:stretch>
          </p:blipFill>
          <p:spPr>
            <a:xfrm>
              <a:off x="712423" y="5486400"/>
              <a:ext cx="3859578" cy="744279"/>
            </a:xfrm>
            <a:prstGeom prst="rect">
              <a:avLst/>
            </a:prstGeom>
          </p:spPr>
        </p:pic>
        <p:pic>
          <p:nvPicPr>
            <p:cNvPr id="7" name="Picture 6" descr="30+ Best AI Tools for Business Success in 2026">
              <a:extLst>
                <a:ext uri="{FF2B5EF4-FFF2-40B4-BE49-F238E27FC236}">
                  <a16:creationId xmlns:a16="http://schemas.microsoft.com/office/drawing/2014/main" id="{9F589A85-1BCB-4C17-D21E-1155C27C56E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3988" t="50628" r="3777" b="8211"/>
            <a:stretch>
              <a:fillRect/>
            </a:stretch>
          </p:blipFill>
          <p:spPr>
            <a:xfrm>
              <a:off x="4462272" y="5486399"/>
              <a:ext cx="3878662" cy="74427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1997923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n-NZ" sz="3500" dirty="0">
                <a:solidFill>
                  <a:srgbClr val="FFFFFF"/>
                </a:solidFill>
              </a:rPr>
              <a:t>Conclusion and Future Work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3FE1EA3-022B-EFA1-8FA8-E8FB1FDAA17C}"/>
              </a:ext>
            </a:extLst>
          </p:cNvPr>
          <p:cNvSpPr txBox="1"/>
          <p:nvPr/>
        </p:nvSpPr>
        <p:spPr>
          <a:xfrm>
            <a:off x="654356" y="1774497"/>
            <a:ext cx="80266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Z" b="1" dirty="0"/>
              <a:t>AI-assisted automation has significant potential for small construction companies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78AF0B2-9377-8E54-8031-D8591AA155EB}"/>
              </a:ext>
            </a:extLst>
          </p:cNvPr>
          <p:cNvSpPr txBox="1"/>
          <p:nvPr/>
        </p:nvSpPr>
        <p:spPr>
          <a:xfrm>
            <a:off x="726429" y="2379787"/>
            <a:ext cx="3206391" cy="40011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en-NZ" sz="2000" b="1" dirty="0"/>
              <a:t>Routine administrative tasks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0ED6CD3-A6D0-7A9D-1240-633D4381B207}"/>
              </a:ext>
            </a:extLst>
          </p:cNvPr>
          <p:cNvSpPr txBox="1"/>
          <p:nvPr/>
        </p:nvSpPr>
        <p:spPr>
          <a:xfrm>
            <a:off x="4709160" y="2682652"/>
            <a:ext cx="3111173" cy="40011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en-NZ" sz="2000" b="1" dirty="0"/>
              <a:t>Use AI as a digital coworker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C0E2278-022A-CDDD-592D-765F477E61CE}"/>
              </a:ext>
            </a:extLst>
          </p:cNvPr>
          <p:cNvSpPr txBox="1"/>
          <p:nvPr/>
        </p:nvSpPr>
        <p:spPr>
          <a:xfrm>
            <a:off x="1634945" y="3321498"/>
            <a:ext cx="5874109" cy="40011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en-NZ" sz="2000" b="1" dirty="0"/>
              <a:t>Managers remain responsible for important decisions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2846E90-0E67-2710-FF47-646BEFD61DF2}"/>
              </a:ext>
            </a:extLst>
          </p:cNvPr>
          <p:cNvSpPr txBox="1"/>
          <p:nvPr/>
        </p:nvSpPr>
        <p:spPr>
          <a:xfrm>
            <a:off x="2507330" y="4754809"/>
            <a:ext cx="4320735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NZ" dirty="0">
                <a:solidFill>
                  <a:schemeClr val="accent4">
                    <a:lumMod val="75000"/>
                  </a:schemeClr>
                </a:solidFill>
              </a:rPr>
              <a:t>More specialised AI mini-assistants 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NZ" dirty="0">
                <a:solidFill>
                  <a:schemeClr val="accent4">
                    <a:lumMod val="75000"/>
                  </a:schemeClr>
                </a:solidFill>
              </a:rPr>
              <a:t>Local/private AI for sensitive data 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NZ" dirty="0">
                <a:solidFill>
                  <a:schemeClr val="accent4">
                    <a:lumMod val="75000"/>
                  </a:schemeClr>
                </a:solidFill>
              </a:rPr>
              <a:t>Wide combination tools 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NZ" dirty="0">
                <a:solidFill>
                  <a:schemeClr val="accent4">
                    <a:lumMod val="75000"/>
                  </a:schemeClr>
                </a:solidFill>
              </a:rPr>
              <a:t>Deep learning AI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NZ" dirty="0">
                <a:solidFill>
                  <a:schemeClr val="accent4">
                    <a:lumMod val="75000"/>
                  </a:schemeClr>
                </a:solidFill>
              </a:rPr>
              <a:t>Quantitative measurement of time saved</a:t>
            </a:r>
          </a:p>
          <a:p>
            <a:endParaRPr lang="en-NZ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B3EA609-A7D8-A082-588C-BE6AE2482E75}"/>
              </a:ext>
            </a:extLst>
          </p:cNvPr>
          <p:cNvSpPr txBox="1"/>
          <p:nvPr/>
        </p:nvSpPr>
        <p:spPr>
          <a:xfrm>
            <a:off x="1174177" y="4081337"/>
            <a:ext cx="1781770" cy="461665"/>
          </a:xfrm>
          <a:prstGeom prst="rect">
            <a:avLst/>
          </a:prstGeom>
          <a:solidFill>
            <a:srgbClr val="DB95D9"/>
          </a:solidFill>
        </p:spPr>
        <p:txBody>
          <a:bodyPr wrap="none" rtlCol="0">
            <a:spAutoFit/>
          </a:bodyPr>
          <a:lstStyle/>
          <a:p>
            <a:r>
              <a:rPr lang="en-NZ" sz="2400" b="1" i="1" dirty="0">
                <a:solidFill>
                  <a:schemeClr val="tx1">
                    <a:lumMod val="85000"/>
                    <a:lumOff val="15000"/>
                  </a:schemeClr>
                </a:solidFill>
                <a:latin typeface="Aptos Light" panose="020F0502020204030204" pitchFamily="34" charset="0"/>
              </a:rPr>
              <a:t>Future Work</a:t>
            </a:r>
            <a:endParaRPr lang="en-NZ" sz="2400" i="1" dirty="0">
              <a:solidFill>
                <a:schemeClr val="tx1">
                  <a:lumMod val="85000"/>
                  <a:lumOff val="15000"/>
                </a:schemeClr>
              </a:solidFill>
              <a:latin typeface="Aptos Light" panose="020F0502020204030204" pitchFamily="34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-1"/>
            <a:ext cx="9143997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" y="0"/>
            <a:ext cx="6086479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86474" y="-1"/>
            <a:ext cx="3057523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4512" y="-1"/>
            <a:ext cx="8799485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CEEB68A-22E6-FDD9-C42D-7CFC363AA9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699" y="294538"/>
            <a:ext cx="7421963" cy="1033669"/>
          </a:xfrm>
        </p:spPr>
        <p:txBody>
          <a:bodyPr>
            <a:normAutofit/>
          </a:bodyPr>
          <a:lstStyle/>
          <a:p>
            <a:r>
              <a:rPr lang="en-NZ" sz="3500">
                <a:solidFill>
                  <a:srgbClr val="FFFFFF"/>
                </a:solidFill>
              </a:rPr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99C01D-58E3-4232-601C-692C7278EC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7225" y="1891969"/>
            <a:ext cx="8001000" cy="4746955"/>
          </a:xfrm>
        </p:spPr>
        <p:txBody>
          <a:bodyPr anchor="ctr">
            <a:normAutofit fontScale="47500" lnSpcReduction="20000"/>
          </a:bodyPr>
          <a:lstStyle/>
          <a:p>
            <a:r>
              <a:rPr lang="en-NZ" dirty="0"/>
              <a:t>Kevin Stratvert. (2021, November 17). </a:t>
            </a:r>
            <a:r>
              <a:rPr lang="en-NZ" i="1" dirty="0"/>
              <a:t>Microsoft AI Builder Tutorial - Extract Data from PDF</a:t>
            </a:r>
            <a:r>
              <a:rPr lang="en-NZ" dirty="0"/>
              <a:t> [Video]. YouTube. </a:t>
            </a:r>
            <a:r>
              <a:rPr lang="en-NZ" u="sng" dirty="0">
                <a:hlinkClick r:id="rId3"/>
              </a:rPr>
              <a:t>https://www.youtube.com/watch?v=J3d6bx3i4l0</a:t>
            </a:r>
            <a:endParaRPr lang="en-NZ" dirty="0"/>
          </a:p>
          <a:p>
            <a:r>
              <a:rPr lang="en-NZ" dirty="0"/>
              <a:t>Koduri, N. K., &amp; </a:t>
            </a:r>
            <a:r>
              <a:rPr lang="en-NZ" dirty="0" err="1"/>
              <a:t>Piridi</a:t>
            </a:r>
            <a:r>
              <a:rPr lang="en-NZ" dirty="0"/>
              <a:t>, S. Low-Code AI-Driven Patient Intake System Using Microsoft Power Platform and AI Builder. </a:t>
            </a:r>
          </a:p>
          <a:p>
            <a:r>
              <a:rPr lang="en-NZ" dirty="0"/>
              <a:t>Leila </a:t>
            </a:r>
            <a:r>
              <a:rPr lang="en-NZ" dirty="0" err="1"/>
              <a:t>Gharani</a:t>
            </a:r>
            <a:r>
              <a:rPr lang="en-NZ" dirty="0"/>
              <a:t>. (2021, March 18). </a:t>
            </a:r>
            <a:r>
              <a:rPr lang="en-NZ" i="1" dirty="0"/>
              <a:t>Streamline Excel: Power Automate tricks you need to know!</a:t>
            </a:r>
            <a:r>
              <a:rPr lang="en-NZ" dirty="0"/>
              <a:t> [Video]. YouTube. https://www.youtube.com/watch?v=YBi9PgbnfLQ</a:t>
            </a:r>
          </a:p>
          <a:p>
            <a:r>
              <a:rPr lang="en-NZ" dirty="0" err="1"/>
              <a:t>Pothireddy</a:t>
            </a:r>
            <a:r>
              <a:rPr lang="en-NZ" dirty="0"/>
              <a:t>, S. R. (2025). AI-Powered Copilots Are Revolutionizing Low-Code Development in the Power Platform. </a:t>
            </a:r>
            <a:r>
              <a:rPr lang="en-NZ" i="1" dirty="0"/>
              <a:t>International Journal of Communication Networks and Information Security</a:t>
            </a:r>
            <a:r>
              <a:rPr lang="en-NZ" dirty="0"/>
              <a:t>, </a:t>
            </a:r>
            <a:r>
              <a:rPr lang="en-NZ" i="1" dirty="0"/>
              <a:t>17</a:t>
            </a:r>
            <a:r>
              <a:rPr lang="en-NZ" dirty="0"/>
              <a:t>(2), 86-115</a:t>
            </a:r>
          </a:p>
          <a:p>
            <a:r>
              <a:rPr lang="en-NZ" dirty="0"/>
              <a:t>Pragmatic Works. (2021, December 9). </a:t>
            </a:r>
            <a:r>
              <a:rPr lang="en-NZ" i="1" dirty="0"/>
              <a:t>Power Automate Beginner to Pro Tutorial [Full Course]</a:t>
            </a:r>
            <a:r>
              <a:rPr lang="en-NZ" dirty="0"/>
              <a:t> [Video]. YouTube. </a:t>
            </a:r>
            <a:r>
              <a:rPr lang="en-NZ" u="sng" dirty="0">
                <a:hlinkClick r:id="rId4"/>
              </a:rPr>
              <a:t>https://www.youtube.com/watch?v=1p5kI7SYz4Q</a:t>
            </a:r>
            <a:endParaRPr lang="en-NZ" dirty="0"/>
          </a:p>
          <a:p>
            <a:r>
              <a:rPr lang="en-NZ" dirty="0"/>
              <a:t>Savaş, S. (2025). Artificial intelligence in construction project management: Trends, challenges and future directions. </a:t>
            </a:r>
            <a:r>
              <a:rPr lang="en-NZ" i="1" dirty="0"/>
              <a:t>Journal of Design for Resilience in Architecture and Planning, 6</a:t>
            </a:r>
            <a:r>
              <a:rPr lang="en-NZ" dirty="0"/>
              <a:t>(2), 221–238. https://doi.org/10.47818/DRArch.2025.v6i2165</a:t>
            </a:r>
          </a:p>
          <a:p>
            <a:r>
              <a:rPr lang="en-NZ" dirty="0"/>
              <a:t>Stratton, J. (2024). </a:t>
            </a:r>
            <a:r>
              <a:rPr lang="en-NZ" i="1" dirty="0"/>
              <a:t>Copilot for Microsoft 365: Harness the power of generative AI in the Microsoft apps you use every day</a:t>
            </a:r>
            <a:r>
              <a:rPr lang="en-NZ" dirty="0"/>
              <a:t>. </a:t>
            </a:r>
            <a:r>
              <a:rPr lang="en-NZ" dirty="0" err="1"/>
              <a:t>Apress</a:t>
            </a:r>
            <a:r>
              <a:rPr lang="en-NZ" dirty="0"/>
              <a:t>.</a:t>
            </a:r>
          </a:p>
          <a:p>
            <a:r>
              <a:rPr lang="en-NZ" dirty="0"/>
              <a:t>Thomas Janssen. (2026, January 3). </a:t>
            </a:r>
            <a:r>
              <a:rPr lang="en-NZ" i="1" dirty="0"/>
              <a:t>Power Automate Excel Tutorial: Add, Update and Read from Excel</a:t>
            </a:r>
            <a:r>
              <a:rPr lang="en-NZ" dirty="0"/>
              <a:t> [Video]. YouTube. https://www.youtube.com/watch?v=M7gaUl4MsZ4</a:t>
            </a:r>
          </a:p>
          <a:p>
            <a:r>
              <a:rPr lang="en-NZ" dirty="0"/>
              <a:t>Zabala-Vargas, S., Jaimes-Quintanilla, M., &amp; Jimenez-Barrera, M. H. (2023). Big data, data science, and artificial intelligence for project management in the architecture, engineering, and construction industry: a systematic review. </a:t>
            </a:r>
            <a:r>
              <a:rPr lang="en-NZ" i="1" dirty="0"/>
              <a:t>Buildings</a:t>
            </a:r>
            <a:r>
              <a:rPr lang="en-NZ" dirty="0"/>
              <a:t>, </a:t>
            </a:r>
            <a:r>
              <a:rPr lang="en-NZ" i="1" dirty="0"/>
              <a:t>13</a:t>
            </a:r>
            <a:r>
              <a:rPr lang="en-NZ" dirty="0"/>
              <a:t>(12), 2944.</a:t>
            </a:r>
          </a:p>
        </p:txBody>
      </p:sp>
    </p:spTree>
    <p:extLst>
      <p:ext uri="{BB962C8B-B14F-4D97-AF65-F5344CB8AC3E}">
        <p14:creationId xmlns:p14="http://schemas.microsoft.com/office/powerpoint/2010/main" val="21393962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22632" y="1922631"/>
            <a:ext cx="6875818" cy="3030558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663321" y="3165298"/>
            <a:ext cx="4355594" cy="3028952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742858" y="2085760"/>
            <a:ext cx="6857572" cy="268605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1161554" y="1712395"/>
            <a:ext cx="4808302" cy="3066500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B4B99B2-6093-B4F3-3B8B-461DCA99ED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030" y="2767106"/>
            <a:ext cx="2160621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35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Thank you for your attention</a:t>
            </a:r>
          </a:p>
        </p:txBody>
      </p:sp>
      <p:pic>
        <p:nvPicPr>
          <p:cNvPr id="5" name="Content Placeholder 4" descr="Graph on document with pen">
            <a:extLst>
              <a:ext uri="{FF2B5EF4-FFF2-40B4-BE49-F238E27FC236}">
                <a16:creationId xmlns:a16="http://schemas.microsoft.com/office/drawing/2014/main" id="{2BCDAD6B-295B-8D6F-93CA-5AD5942A542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34586" r="20863" b="-2"/>
          <a:stretch>
            <a:fillRect/>
          </a:stretch>
        </p:blipFill>
        <p:spPr>
          <a:xfrm>
            <a:off x="4109725" y="467208"/>
            <a:ext cx="3953503" cy="5923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05367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3993</TotalTime>
  <Words>657</Words>
  <Application>Microsoft Office PowerPoint</Application>
  <PresentationFormat>On-screen Show (4:3)</PresentationFormat>
  <Paragraphs>71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Aptos</vt:lpstr>
      <vt:lpstr>Aptos Light</vt:lpstr>
      <vt:lpstr>Arial</vt:lpstr>
      <vt:lpstr>Calibri</vt:lpstr>
      <vt:lpstr>Wingdings</vt:lpstr>
      <vt:lpstr>Office Theme</vt:lpstr>
      <vt:lpstr>COMP902   Advanced Information Technology Specialised Project Trimester 2, 2026  Final Report</vt:lpstr>
      <vt:lpstr>Research Topic and Problem</vt:lpstr>
      <vt:lpstr>The aim and objectives of the research</vt:lpstr>
      <vt:lpstr>Literature Review</vt:lpstr>
      <vt:lpstr>Methodology</vt:lpstr>
      <vt:lpstr>Technologies Investigated</vt:lpstr>
      <vt:lpstr>Concept mini-assistants</vt:lpstr>
      <vt:lpstr>Claude Cowork and Notion</vt:lpstr>
      <vt:lpstr>Results &amp; Key Findings</vt:lpstr>
      <vt:lpstr>Conclusion and Future Work</vt:lpstr>
      <vt:lpstr>References</vt:lpstr>
      <vt:lpstr>Thank you for your attention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admin</dc:creator>
  <cp:keywords/>
  <dc:description>generated using python-pptx</dc:description>
  <cp:lastModifiedBy>Viacheslav Vorozhbit</cp:lastModifiedBy>
  <cp:revision>78</cp:revision>
  <dcterms:created xsi:type="dcterms:W3CDTF">2013-01-27T09:14:16Z</dcterms:created>
  <dcterms:modified xsi:type="dcterms:W3CDTF">2026-08-11T22:49:27Z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c96ed6d7-747c-41fd-b042-ff14484edc24_Enabled">
    <vt:lpwstr>true</vt:lpwstr>
  </property>
  <property fmtid="{D5CDD505-2E9C-101B-9397-08002B2CF9AE}" pid="3" name="MSIP_Label_c96ed6d7-747c-41fd-b042-ff14484edc24_SetDate">
    <vt:lpwstr>2026-07-10T01:09:57Z</vt:lpwstr>
  </property>
  <property fmtid="{D5CDD505-2E9C-101B-9397-08002B2CF9AE}" pid="4" name="MSIP_Label_c96ed6d7-747c-41fd-b042-ff14484edc24_Method">
    <vt:lpwstr>Standard</vt:lpwstr>
  </property>
  <property fmtid="{D5CDD505-2E9C-101B-9397-08002B2CF9AE}" pid="5" name="MSIP_Label_c96ed6d7-747c-41fd-b042-ff14484edc24_Name">
    <vt:lpwstr>defa4170-0d19-0005-0004-bc88714345d2</vt:lpwstr>
  </property>
  <property fmtid="{D5CDD505-2E9C-101B-9397-08002B2CF9AE}" pid="6" name="MSIP_Label_c96ed6d7-747c-41fd-b042-ff14484edc24_SiteId">
    <vt:lpwstr>6a425d0d-58f2-4e36-8689-10002b2ec567</vt:lpwstr>
  </property>
  <property fmtid="{D5CDD505-2E9C-101B-9397-08002B2CF9AE}" pid="7" name="MSIP_Label_c96ed6d7-747c-41fd-b042-ff14484edc24_ActionId">
    <vt:lpwstr>266eda15-2f38-4754-ae19-b39b4d702983</vt:lpwstr>
  </property>
  <property fmtid="{D5CDD505-2E9C-101B-9397-08002B2CF9AE}" pid="8" name="MSIP_Label_c96ed6d7-747c-41fd-b042-ff14484edc24_ContentBits">
    <vt:lpwstr>0</vt:lpwstr>
  </property>
  <property fmtid="{D5CDD505-2E9C-101B-9397-08002B2CF9AE}" pid="9" name="MSIP_Label_c96ed6d7-747c-41fd-b042-ff14484edc24_Tag">
    <vt:lpwstr>10, 3, 0, 1</vt:lpwstr>
  </property>
</Properties>
</file>